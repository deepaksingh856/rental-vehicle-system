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7" r:id="rId5"/>
    <p:sldId id="299" r:id="rId6"/>
    <p:sldId id="323" r:id="rId7"/>
    <p:sldId id="300" r:id="rId8"/>
    <p:sldId id="304" r:id="rId9"/>
    <p:sldId id="325" r:id="rId10"/>
    <p:sldId id="322" r:id="rId11"/>
    <p:sldId id="326" r:id="rId12"/>
    <p:sldId id="328" r:id="rId13"/>
    <p:sldId id="306" r:id="rId14"/>
    <p:sldId id="329" r:id="rId15"/>
    <p:sldId id="285" r:id="rId16"/>
    <p:sldId id="3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66" autoAdjust="0"/>
    <p:restoredTop sz="94631" autoAdjust="0"/>
  </p:normalViewPr>
  <p:slideViewPr>
    <p:cSldViewPr snapToGrid="0">
      <p:cViewPr varScale="1">
        <p:scale>
          <a:sx n="72" d="100"/>
          <a:sy n="72" d="100"/>
        </p:scale>
        <p:origin x="58" y="5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2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pPr/>
              <a:t>2/2/2025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pPr/>
              <a:t>2/2/2025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pPr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5156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500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2020359"/>
            <a:ext cx="4500000" cy="417089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 userDrawn="1"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77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046375"/>
            <a:ext cx="9198000" cy="513058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00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94169" y="1046376"/>
            <a:ext cx="4435831" cy="513058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3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1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195160" y="2096752"/>
            <a:ext cx="4434840" cy="409291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46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0722" y="457201"/>
            <a:ext cx="6023727" cy="572678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2000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1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779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600" b="1" spc="-100" baseline="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WOODGROVE</a:t>
            </a:r>
            <a:r>
              <a:rPr lang="en-US" sz="1600" b="1" spc="-100" baseline="0" noProof="0" dirty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n-US" sz="1600" b="1" spc="-100" baseline="0" noProof="0" dirty="0">
                <a:solidFill>
                  <a:schemeClr val="tx1"/>
                </a:solidFill>
                <a:latin typeface="Corbel" panose="020B0503020204020204" pitchFamily="34" charset="0"/>
              </a:rPr>
              <a:t>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6" r:id="rId10"/>
    <p:sldLayoutId id="2147483657" r:id="rId11"/>
    <p:sldLayoutId id="2147483654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5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2" name="Picture 8" descr="C:\Users\Daniel Davidraj\Downloads\ezgif.com-webp-to-jpg.jpg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/>
          <a:srcRect l="3987" r="3987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5241376" y="568764"/>
            <a:ext cx="5923128" cy="1705970"/>
          </a:xfrm>
        </p:spPr>
        <p:txBody>
          <a:bodyPr/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  bike rental 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218364" y="232012"/>
            <a:ext cx="9648967" cy="6414448"/>
          </a:xfrm>
        </p:spPr>
        <p:txBody>
          <a:bodyPr/>
          <a:lstStyle/>
          <a:p>
            <a:pPr>
              <a:buNone/>
            </a:pPr>
            <a:r>
              <a:rPr lang="en-US" sz="6600" b="1" dirty="0">
                <a:latin typeface="+mj-lt"/>
              </a:rPr>
              <a:t>A</a:t>
            </a:r>
            <a:r>
              <a:rPr lang="en-US" sz="5400" b="1" dirty="0">
                <a:latin typeface="+mj-lt"/>
              </a:rPr>
              <a:t>BSTRACT: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600" dirty="0">
                <a:latin typeface="+mj-lt"/>
              </a:rPr>
              <a:t>The website is a full-stack web application which allows the clients to rent a car or bike.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600" dirty="0">
                <a:latin typeface="+mj-lt"/>
              </a:rPr>
              <a:t>The main goal of the website is to facilitate the process of renting a vehicle. 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600" dirty="0">
                <a:latin typeface="+mj-lt"/>
              </a:rPr>
              <a:t>HTML,CSS and JavaScript involves in the client side and also AJAX.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13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72955" y="218364"/>
            <a:ext cx="9539785" cy="6414448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PHP involves in the server side.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600" dirty="0">
                <a:latin typeface="+mj-lt"/>
              </a:rPr>
              <a:t>MySQL is used as the database.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600" dirty="0">
                <a:latin typeface="+mj-lt"/>
              </a:rPr>
              <a:t>The user can rent a vehicle by uploading his details which will be stored in the database for later use.</a:t>
            </a:r>
          </a:p>
          <a:p>
            <a:endParaRPr lang="en-US" dirty="0"/>
          </a:p>
          <a:p>
            <a:r>
              <a:rPr lang="en-US" sz="3600" dirty="0">
                <a:latin typeface="+mj-lt"/>
              </a:rPr>
              <a:t>The agency can organize and  deliver the vehicles according to the entries in the database.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32012" y="218364"/>
            <a:ext cx="9621671" cy="6428095"/>
          </a:xfrm>
        </p:spPr>
        <p:txBody>
          <a:bodyPr/>
          <a:lstStyle/>
          <a:p>
            <a:pPr>
              <a:buNone/>
            </a:pPr>
            <a:r>
              <a:rPr lang="en-US" sz="6000" b="1" dirty="0">
                <a:latin typeface="+mj-lt"/>
              </a:rPr>
              <a:t>T</a:t>
            </a:r>
            <a:r>
              <a:rPr lang="en-US" sz="4800" b="1" dirty="0">
                <a:latin typeface="+mj-lt"/>
              </a:rPr>
              <a:t>ECHNOLOGY </a:t>
            </a:r>
            <a:r>
              <a:rPr lang="en-US" sz="6000" b="1" dirty="0">
                <a:latin typeface="+mj-lt"/>
              </a:rPr>
              <a:t>A</a:t>
            </a:r>
            <a:r>
              <a:rPr lang="en-US" sz="4800" b="1" dirty="0">
                <a:latin typeface="+mj-lt"/>
              </a:rPr>
              <a:t>ND </a:t>
            </a:r>
            <a:r>
              <a:rPr lang="en-US" sz="6000" b="1" dirty="0">
                <a:latin typeface="+mj-lt"/>
              </a:rPr>
              <a:t>T</a:t>
            </a:r>
            <a:r>
              <a:rPr lang="en-US" sz="4800" b="1" dirty="0">
                <a:latin typeface="+mj-lt"/>
              </a:rPr>
              <a:t>OOLS: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+mj-lt"/>
              </a:rPr>
              <a:t>HTML 5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+mj-lt"/>
              </a:rPr>
              <a:t>CSS 3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+mj-lt"/>
              </a:rPr>
              <a:t>JavaScript 1.8.5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+mj-lt"/>
              </a:rPr>
              <a:t>PHP 7.1.12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</p:spPr>
      </p:pic>
      <p:pic>
        <p:nvPicPr>
          <p:cNvPr id="1028" name="Picture 4" descr="C:\Users\Daniel Davidraj\Downloads\1200px-HTML5_logo_and_wordmark.sv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7339" y="1555847"/>
            <a:ext cx="1829938" cy="1801504"/>
          </a:xfrm>
          <a:prstGeom prst="rect">
            <a:avLst/>
          </a:prstGeom>
          <a:noFill/>
        </p:spPr>
      </p:pic>
      <p:pic>
        <p:nvPicPr>
          <p:cNvPr id="1029" name="Picture 5" descr="C:\Users\Daniel Davidraj\Downloads\img_cs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32260" y="2456599"/>
            <a:ext cx="1334069" cy="1856095"/>
          </a:xfrm>
          <a:prstGeom prst="rect">
            <a:avLst/>
          </a:prstGeom>
          <a:noFill/>
        </p:spPr>
      </p:pic>
      <p:pic>
        <p:nvPicPr>
          <p:cNvPr id="1031" name="Picture 7" descr="C:\Users\Daniel Davidraj\Downloads\images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5659" y="3684894"/>
            <a:ext cx="1821619" cy="2088107"/>
          </a:xfrm>
          <a:prstGeom prst="rect">
            <a:avLst/>
          </a:prstGeom>
          <a:noFill/>
        </p:spPr>
      </p:pic>
      <p:pic>
        <p:nvPicPr>
          <p:cNvPr id="1033" name="Picture 9" descr="C:\Users\Daniel Davidraj\Downloads\download.png"/>
          <p:cNvPicPr>
            <a:picLocks noChangeAspect="1" noChangeArrowheads="1"/>
          </p:cNvPicPr>
          <p:nvPr/>
        </p:nvPicPr>
        <p:blipFill>
          <a:blip r:embed="rId6"/>
          <a:srcRect t="20544" b="22961"/>
          <a:stretch>
            <a:fillRect/>
          </a:stretch>
        </p:blipFill>
        <p:spPr bwMode="auto">
          <a:xfrm>
            <a:off x="7030659" y="5172502"/>
            <a:ext cx="2143125" cy="12010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1069" y="191068"/>
            <a:ext cx="9676262" cy="6441743"/>
          </a:xfrm>
        </p:spPr>
        <p:txBody>
          <a:bodyPr/>
          <a:lstStyle/>
          <a:p>
            <a:pPr>
              <a:buNone/>
            </a:pPr>
            <a:r>
              <a:rPr lang="en-US" sz="5400" b="1" dirty="0">
                <a:latin typeface="+mj-lt"/>
              </a:rPr>
              <a:t>F</a:t>
            </a:r>
            <a:r>
              <a:rPr lang="en-US" sz="4400" b="1" dirty="0">
                <a:latin typeface="+mj-lt"/>
              </a:rPr>
              <a:t>UNCTIONAL </a:t>
            </a:r>
            <a:r>
              <a:rPr lang="en-US" sz="5400" b="1" dirty="0">
                <a:latin typeface="+mj-lt"/>
              </a:rPr>
              <a:t>S</a:t>
            </a:r>
            <a:r>
              <a:rPr lang="en-US" sz="4400" b="1" dirty="0">
                <a:latin typeface="+mj-lt"/>
              </a:rPr>
              <a:t>PECIFICATIONS: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A Responsive Website so that it can adapt to any screen size.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icon of the agency is displayed in the tab of every page of the website.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website offers an attractive navigation bar that allows to navigate to any page of the website with ease.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77421" y="204717"/>
            <a:ext cx="9676263" cy="6428096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The contact details are also specified in the navigation-bar so that the user can get in contact with the agency anytime.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 Pictures that allure and set the mood for the user.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A Slideshow of relevant images in the home page that makes the website more attractive.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user can also contact the agency by sending a message with his details by clicking on enquire now.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A footer that holds details about the agency. 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pPr>
              <a:buNone/>
            </a:pPr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91069" y="191070"/>
            <a:ext cx="9676262" cy="6482686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The variety of services provided by the agency are also listed in the website.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website displays the list of all rental cars and bikes downloaded from google.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user can browse and choose the desired vehicle for a particular date.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user need to upload his details and driving license in a form which will be stored in the database with the vehicle’s details for later use. 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45659" y="218363"/>
            <a:ext cx="9526137" cy="6359857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The form will also be validated for any incomplete or invalid entries.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Also the user don’t need to enter the vehicle’s details in the form again as the website itself will auto-fill that.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code also checks if the vehicle is already booked on same date simultaneously, warns the user.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The website also displays the details of the agency like the terms and the services offered by them.</a:t>
            </a:r>
          </a:p>
          <a:p>
            <a:pPr>
              <a:buNone/>
            </a:pPr>
            <a:endParaRPr lang="en-US" sz="2800" dirty="0">
              <a:latin typeface="+mj-lt"/>
            </a:endParaRPr>
          </a:p>
          <a:p>
            <a:pPr>
              <a:buNone/>
            </a:pPr>
            <a:endParaRPr lang="en-US" sz="2800" dirty="0">
              <a:latin typeface="+mj-lt"/>
            </a:endParaRPr>
          </a:p>
          <a:p>
            <a:endParaRPr lang="en-US" sz="3200" dirty="0">
              <a:latin typeface="+mj-lt"/>
            </a:endParaRPr>
          </a:p>
          <a:p>
            <a:endParaRPr lang="en-US" sz="32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91069" y="204715"/>
            <a:ext cx="9662615" cy="6455391"/>
          </a:xfrm>
        </p:spPr>
        <p:txBody>
          <a:bodyPr/>
          <a:lstStyle/>
          <a:p>
            <a:r>
              <a:rPr lang="en-US" sz="3200" dirty="0">
                <a:latin typeface="+mj-lt"/>
              </a:rPr>
              <a:t>The location of the agency is also displayed in the website so that the user can pick-up the vehicle without trouble.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The terms of the agency is also displayed in the website.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A confirmation message will be displayed if the vehicle is successfully booked.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The user can also give feedback and that will be stored in the database.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04716" y="191069"/>
            <a:ext cx="9621672" cy="6482686"/>
          </a:xfrm>
        </p:spPr>
        <p:txBody>
          <a:bodyPr/>
          <a:lstStyle/>
          <a:p>
            <a:pPr>
              <a:buNone/>
            </a:pPr>
            <a:r>
              <a:rPr lang="en-US" sz="6600" b="1" dirty="0">
                <a:latin typeface="+mj-lt"/>
              </a:rPr>
              <a:t>C</a:t>
            </a:r>
            <a:r>
              <a:rPr lang="en-US" sz="5400" b="1" dirty="0">
                <a:latin typeface="+mj-lt"/>
              </a:rPr>
              <a:t>ONCLUSION:</a:t>
            </a:r>
          </a:p>
          <a:p>
            <a:endParaRPr lang="en-US" sz="3600" dirty="0">
              <a:latin typeface="+mj-lt"/>
            </a:endParaRPr>
          </a:p>
          <a:p>
            <a:r>
              <a:rPr lang="en-US" sz="3200" dirty="0">
                <a:latin typeface="+mj-lt"/>
              </a:rPr>
              <a:t>Visual studio was used as code editor.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The package consists of totally 16 items,13 </a:t>
            </a:r>
            <a:r>
              <a:rPr lang="en-US" sz="3200" dirty="0" err="1">
                <a:latin typeface="+mj-lt"/>
              </a:rPr>
              <a:t>php</a:t>
            </a:r>
            <a:r>
              <a:rPr lang="en-US" sz="3200" dirty="0">
                <a:latin typeface="+mj-lt"/>
              </a:rPr>
              <a:t> files,2 </a:t>
            </a:r>
            <a:r>
              <a:rPr lang="en-US" sz="3200" dirty="0" err="1">
                <a:latin typeface="+mj-lt"/>
              </a:rPr>
              <a:t>css</a:t>
            </a:r>
            <a:r>
              <a:rPr lang="en-US" sz="3200" dirty="0">
                <a:latin typeface="+mj-lt"/>
              </a:rPr>
              <a:t> font files and 1 script file including a folder for images.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0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91069" y="177421"/>
            <a:ext cx="9676262" cy="6496334"/>
          </a:xfrm>
        </p:spPr>
        <p:txBody>
          <a:bodyPr/>
          <a:lstStyle/>
          <a:p>
            <a:r>
              <a:rPr lang="en-US" sz="3200" dirty="0">
                <a:latin typeface="+mj-lt"/>
              </a:rPr>
              <a:t>The Car Bike Rental Hub icon is used in some parts of the package.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Some of the images used in this package are taken from the Google.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7" name="Picture Placeholder 9" descr="Abstract architecture polygon">
            <a:extLst>
              <a:ext uri="{FF2B5EF4-FFF2-40B4-BE49-F238E27FC236}">
                <a16:creationId xmlns:a16="http://schemas.microsoft.com/office/drawing/2014/main" id="{38475F7B-316A-47DC-9CBB-B074A5B5994C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l="15" r="15"/>
          <a:stretch>
            <a:fillRect/>
          </a:stretch>
        </p:blipFill>
        <p:spPr>
          <a:xfrm>
            <a:off x="9980476" y="0"/>
            <a:ext cx="22115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 hidden="1">
            <a:extLst>
              <a:ext uri="{FF2B5EF4-FFF2-40B4-BE49-F238E27FC236}">
                <a16:creationId xmlns:a16="http://schemas.microsoft.com/office/drawing/2014/main" id="{D4D7552C-2487-44D3-B47B-039B6E9A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Placeholder 8" descr="Running track with numbers">
            <a:extLst>
              <a:ext uri="{FF2B5EF4-FFF2-40B4-BE49-F238E27FC236}">
                <a16:creationId xmlns:a16="http://schemas.microsoft.com/office/drawing/2014/main" id="{0696A4C5-7918-4F00-8A44-96747CE8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919" y="0"/>
            <a:ext cx="347108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  <p:sp>
        <p:nvSpPr>
          <p:cNvPr id="11" name="TextBox 10"/>
          <p:cNvSpPr txBox="1"/>
          <p:nvPr/>
        </p:nvSpPr>
        <p:spPr>
          <a:xfrm>
            <a:off x="1214651" y="941695"/>
            <a:ext cx="65152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haroni" pitchFamily="2" charset="-79"/>
                <a:cs typeface="Aharoni" pitchFamily="2" charset="-79"/>
              </a:rPr>
              <a:t>REFERENCE</a:t>
            </a:r>
          </a:p>
          <a:p>
            <a:endParaRPr lang="en-US" sz="5400" b="1" dirty="0"/>
          </a:p>
          <a:p>
            <a:pPr>
              <a:buFont typeface="Wingdings" pitchFamily="2" charset="2"/>
              <a:buChar char="§"/>
            </a:pPr>
            <a:r>
              <a:rPr lang="en-US" sz="3600" dirty="0"/>
              <a:t>   www.w3schools.com</a:t>
            </a:r>
          </a:p>
          <a:p>
            <a:pPr>
              <a:buFont typeface="Wingdings" pitchFamily="2" charset="2"/>
              <a:buChar char="§"/>
            </a:pPr>
            <a:endParaRPr lang="en-US" sz="3600" dirty="0"/>
          </a:p>
          <a:p>
            <a:pPr>
              <a:buFont typeface="Wingdings" pitchFamily="2" charset="2"/>
              <a:buChar char="§"/>
            </a:pPr>
            <a:r>
              <a:rPr lang="en-US" sz="3600" dirty="0"/>
              <a:t>   www.stackoverflow.com</a:t>
            </a:r>
          </a:p>
          <a:p>
            <a:pPr>
              <a:buFont typeface="Wingdings" pitchFamily="2" charset="2"/>
              <a:buChar char="§"/>
            </a:pPr>
            <a:endParaRPr lang="en-US" sz="3600" dirty="0"/>
          </a:p>
          <a:p>
            <a:pPr>
              <a:buFont typeface="Wingdings" pitchFamily="2" charset="2"/>
              <a:buChar char="§"/>
            </a:pPr>
            <a:r>
              <a:rPr lang="en-US" sz="3600" dirty="0"/>
              <a:t>   www.pintrest.com</a:t>
            </a: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Picture Placeholder 8" descr="Running track with numbers">
            <a:extLst>
              <a:ext uri="{FF2B5EF4-FFF2-40B4-BE49-F238E27FC236}">
                <a16:creationId xmlns:a16="http://schemas.microsoft.com/office/drawing/2014/main" id="{0696A4C5-7918-4F00-8A44-96747CE8A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919" y="0"/>
            <a:ext cx="347108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  <p:sp>
        <p:nvSpPr>
          <p:cNvPr id="7" name="TextBox 6"/>
          <p:cNvSpPr txBox="1"/>
          <p:nvPr/>
        </p:nvSpPr>
        <p:spPr>
          <a:xfrm>
            <a:off x="1746912" y="2679405"/>
            <a:ext cx="61637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haroni" pitchFamily="2" charset="-79"/>
                <a:cs typeface="Aharoni" pitchFamily="2" charset="-79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f67328976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7328976_Minimalist presentation_RVA_v4" id="{DA616D2A-CFEC-48D2-90FC-DF66CF8D2F8A}" vid="{8F2838F8-33B8-457C-9B19-1E5863B0E0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100F67-BC3D-46B4-8D39-802DC9D7F2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53D8350-BC36-420E-83B3-2CFFF4E97F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323504-CBC8-4A2F-BF86-8DF0D94D4A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tf67328976</Template>
  <TotalTime>0</TotalTime>
  <Words>558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Aharoni</vt:lpstr>
      <vt:lpstr>Arial</vt:lpstr>
      <vt:lpstr>Calibri</vt:lpstr>
      <vt:lpstr>Corbel</vt:lpstr>
      <vt:lpstr>Times New Roman</vt:lpstr>
      <vt:lpstr>Wingdings</vt:lpstr>
      <vt:lpstr>tf67328976</vt:lpstr>
      <vt:lpstr>Car  bike rental 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2020-04-08T09:51:59Z</dcterms:created>
  <dcterms:modified xsi:type="dcterms:W3CDTF">2025-02-02T13:59:38Z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